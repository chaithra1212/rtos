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60" r:id="rId3"/>
    <p:sldId id="273" r:id="rId4"/>
    <p:sldId id="261" r:id="rId5"/>
    <p:sldId id="262" r:id="rId6"/>
    <p:sldId id="263" r:id="rId7"/>
    <p:sldId id="272" r:id="rId8"/>
    <p:sldId id="264" r:id="rId9"/>
    <p:sldId id="265" r:id="rId10"/>
    <p:sldId id="274" r:id="rId11"/>
    <p:sldId id="267" r:id="rId12"/>
    <p:sldId id="266" r:id="rId13"/>
    <p:sldId id="268" r:id="rId14"/>
    <p:sldId id="269" r:id="rId15"/>
    <p:sldId id="270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A9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F0CD3-7997-4CA3-8B74-26388476E0D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3822A-EF8E-435C-B47D-30EC9DE87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1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625">
              <a:srgbClr val="B5C7E7"/>
            </a:gs>
            <a:gs pos="6250">
              <a:srgbClr val="BECEEA"/>
            </a:gs>
            <a:gs pos="100000">
              <a:srgbClr val="D1DCF0"/>
            </a:gs>
            <a:gs pos="6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35000">
              <a:schemeClr val="bg1"/>
            </a:gs>
            <a:gs pos="100000">
              <a:schemeClr val="accent1">
                <a:lumMod val="30000"/>
                <a:lumOff val="70000"/>
              </a:schemeClr>
            </a:gs>
          </a:gsLst>
          <a:path path="rect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9DDF5-D33F-42CB-8E16-7466BB8DFC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63275-8587-4EEF-A5E5-8D742DA5554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878002"/>
            <a:ext cx="12192000" cy="6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8519" y="2543070"/>
            <a:ext cx="10354961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COMPUTER INTERACTION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-II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7333"/>
            <a:ext cx="10515600" cy="2391328"/>
          </a:xfrm>
        </p:spPr>
        <p:txBody>
          <a:bodyPr>
            <a:normAutofit/>
          </a:bodyPr>
          <a:lstStyle/>
          <a:p>
            <a:pPr algn="just"/>
            <a:r>
              <a:rPr lang="en-IN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IN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IN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IN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IN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UNIT II </a:t>
            </a:r>
            <a:r>
              <a:rPr lang="en-US" sz="2800" b="1" i="0" u="none" strike="noStrike" baseline="0" dirty="0">
                <a:latin typeface="Times New Roman" panose="02020603050405020304" pitchFamily="18" charset="0"/>
              </a:rPr>
              <a:t>Design process – Human interaction with computers, importance of human characteristics, human consideration, Human interaction speeds, understanding business Functions. </a:t>
            </a:r>
            <a:endParaRPr lang="en-IN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44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</a:rPr>
              <a:t>Design Process:</a:t>
            </a:r>
            <a:endParaRPr lang="en-IN" sz="2800" b="1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process is a series of steps that can be used to create any product, including computer systems.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steps in the design process may vary depending on the project, but they typically include: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problem: What are you trying to achieve with your design?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information: Who are your users? What are their needs? What are the technical constraints?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ideas: Come up with a variety of possible solutions.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ideas: Which ideas are the most feasible and effective?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test: Build your design and test it with users.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0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i="0" u="none" strike="noStrike" baseline="0" dirty="0">
                <a:latin typeface="Times New Roman" panose="02020603050405020304" pitchFamily="18" charset="0"/>
              </a:rPr>
              <a:t>Human Interaction with Computers</a:t>
            </a:r>
            <a:br>
              <a:rPr lang="en-US" sz="2800" b="1" i="0" u="none" strike="noStrike" baseline="0" dirty="0">
                <a:latin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people interact with computers.</a:t>
            </a:r>
          </a:p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human characteristics important in design.</a:t>
            </a:r>
          </a:p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user’s level of knowledge and experience.</a:t>
            </a:r>
          </a:p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characteristics of the user’s needs, tasks, and jobs.</a:t>
            </a:r>
          </a:p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user’s psychological characteristics.</a:t>
            </a:r>
          </a:p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user’s physical characteristics.</a:t>
            </a:r>
          </a:p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 recommended methods for gaining understanding of users.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77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 Action Cycle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goal is formed.</a:t>
            </a:r>
          </a:p>
          <a:p>
            <a:r>
              <a:rPr lang="en-US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execution plan is devised and implemented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methods to achieve the desired goals are decided upon</a:t>
            </a:r>
            <a:endParaRPr lang="en-IN" sz="20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 sequence is planned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actions are performed</a:t>
            </a:r>
          </a:p>
          <a:p>
            <a:r>
              <a:rPr lang="en-US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of the actions taken are evaluated.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output is perceived and understood.</a:t>
            </a:r>
            <a:endParaRPr lang="en-IN" sz="20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outcome is interpreted based upon expectations.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are compared to the formulated goals.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People Have Trouble with Computers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1799"/>
            <a:ext cx="10515600" cy="2256044"/>
          </a:xfrm>
        </p:spPr>
        <p:txBody>
          <a:bodyPr>
            <a:normAutofit/>
          </a:bodyPr>
          <a:lstStyle/>
          <a:p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much flexibility</a:t>
            </a:r>
          </a:p>
          <a:p>
            <a:r>
              <a:rPr lang="en-IN" sz="200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Non-obvious </a:t>
            </a:r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distinctions.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Disparity in problem-solving strategies</a:t>
            </a:r>
          </a:p>
          <a:p>
            <a:r>
              <a:rPr lang="en-I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inconsistency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3500" y="3617843"/>
            <a:ext cx="10651435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u="none" strike="noStrike" baseline="0" dirty="0">
                <a:latin typeface="Formata-Medium"/>
              </a:rPr>
              <a:t>Responses to Poor Design-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people remember the one thing that went wrong, not the many that go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</a:p>
          <a:p>
            <a:r>
              <a:rPr lang="en-IN" sz="1800" b="1" i="1" u="none" strike="noStrike" baseline="0" dirty="0">
                <a:latin typeface="Formata-MediumItalic"/>
              </a:rPr>
              <a:t>Psychological  -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Confusion, Annoyance, Frustration, Panic or stress</a:t>
            </a:r>
          </a:p>
          <a:p>
            <a:pPr algn="l"/>
            <a:endParaRPr lang="en-IN" sz="1800" b="1" i="1" u="none" strike="noStrike" baseline="0" dirty="0">
              <a:latin typeface="Formata-MediumItalic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Physical-Abandonment of the system,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Partial use of the system, Indirect use of the system,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Modification of the task, Compensatory activity, Misuse of the system</a:t>
            </a:r>
          </a:p>
          <a:p>
            <a:pPr algn="l"/>
            <a:endParaRPr lang="en-IN" dirty="0">
              <a:latin typeface="Palatino-Roman"/>
            </a:endParaRPr>
          </a:p>
          <a:p>
            <a:pPr algn="l"/>
            <a:endParaRPr lang="en-IN" dirty="0">
              <a:latin typeface="Palatino-Roman"/>
            </a:endParaRPr>
          </a:p>
          <a:p>
            <a:pPr algn="l"/>
            <a:endParaRPr lang="en-IN" dirty="0">
              <a:latin typeface="Palatino-Roman"/>
            </a:endParaRPr>
          </a:p>
          <a:p>
            <a:pPr algn="l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Characteristics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designing computer systems, it is important to consider the human characteristics of your users.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key human characteristics to consider include: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characteristics: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includes things like the size and strength of the user's body, as well as their sensory abilities.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abilities: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includes things like the user's memory, attention, and problem-solving skills.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and emotional factors: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includes things like the user's cultural background, their level of experience, and their emotional state.</a:t>
            </a:r>
          </a:p>
        </p:txBody>
      </p:sp>
    </p:spTree>
    <p:extLst>
      <p:ext uri="{BB962C8B-B14F-4D97-AF65-F5344CB8AC3E}">
        <p14:creationId xmlns:p14="http://schemas.microsoft.com/office/powerpoint/2010/main" val="306593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r>
              <a:rPr lang="en-US" sz="2400" b="1" i="0" u="none" strike="noStrik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4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Characteristics in Design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97209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are complex organisms with many attributes that have an important influence on interface design. </a:t>
            </a:r>
          </a:p>
          <a:p>
            <a:pPr marL="0" indent="0" algn="just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erception</a:t>
            </a:r>
            <a:r>
              <a:rPr lang="en-US" sz="22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tend to match objects or sensations perceived to things already known.</a:t>
            </a:r>
          </a:p>
          <a:p>
            <a:pPr marL="0" indent="0" algn="just">
              <a:buNone/>
            </a:pPr>
            <a:r>
              <a:rPr lang="en-IN" sz="2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Proximity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patterns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Three-dimensional projection		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lighting bias</a:t>
            </a:r>
            <a:r>
              <a:rPr lang="en-IN" sz="1800" b="1" i="0" u="none" strike="noStrike" baseline="0" dirty="0">
                <a:latin typeface="Palatino-Bold"/>
              </a:rPr>
              <a:t> -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interpret shaded or dark areas using lights.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versus noise.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sensing mechanisms are bombarded by many stimuli, some of which are important and some of which are not. Important stimuli are called signals; those that are not important or unwanted are called noise. This is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as </a:t>
            </a:r>
            <a:r>
              <a:rPr lang="en-IN" sz="1800" b="1" i="0" u="none" strike="noStrike" baseline="0" dirty="0">
                <a:latin typeface="Palatino-Roman"/>
              </a:rPr>
              <a:t>figure-ground perception</a:t>
            </a:r>
            <a:r>
              <a:rPr lang="en-IN" sz="1800" b="0" i="0" u="none" strike="noStrike" baseline="0" dirty="0">
                <a:latin typeface="Palatino-Roman"/>
              </a:rPr>
              <a:t>.</a:t>
            </a:r>
          </a:p>
          <a:p>
            <a:pPr marL="0" indent="0" algn="l">
              <a:buNone/>
            </a:pPr>
            <a:endParaRPr lang="en-IN" sz="1800" b="0" i="0" u="none" strike="noStrike" baseline="0" dirty="0">
              <a:latin typeface="Palatino-Roman"/>
            </a:endParaRPr>
          </a:p>
          <a:p>
            <a:pPr marL="0" indent="0" algn="l">
              <a:buNone/>
            </a:pPr>
            <a:endParaRPr lang="en-IN" sz="1800" b="1" i="0" u="none" strike="noStrike" baseline="0" dirty="0">
              <a:latin typeface="Palatino-Bold"/>
            </a:endParaRPr>
          </a:p>
          <a:p>
            <a:pPr marL="0" indent="0" algn="just">
              <a:buNone/>
            </a:pPr>
            <a:endParaRPr lang="en-US" sz="1800" b="0" i="0" u="none" strike="noStrike" baseline="0" dirty="0">
              <a:latin typeface="Palatino-Roman"/>
            </a:endParaRPr>
          </a:p>
          <a:p>
            <a:pPr marL="0" indent="0" algn="just">
              <a:buNone/>
            </a:pPr>
            <a:r>
              <a:rPr lang="en-US" sz="1800" dirty="0">
                <a:latin typeface="Palatino-Roman"/>
              </a:rPr>
              <a:t>	</a:t>
            </a:r>
            <a:endParaRPr lang="en-IN" sz="1800" b="0" i="0" u="none" strike="noStrike" baseline="0" dirty="0">
              <a:latin typeface="Palatino-Roman"/>
            </a:endParaRPr>
          </a:p>
          <a:p>
            <a:pPr algn="just"/>
            <a:endParaRPr lang="en-IN" sz="1800" dirty="0">
              <a:latin typeface="Palatino-Roman"/>
            </a:endParaRPr>
          </a:p>
          <a:p>
            <a:pPr marL="0" indent="0" algn="just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8491" y="901521"/>
            <a:ext cx="102074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b="1" dirty="0">
                <a:latin typeface="Palatino-Roman"/>
              </a:rPr>
              <a:t>M</a:t>
            </a:r>
            <a:r>
              <a:rPr lang="en-US" sz="1800" b="1" i="0" u="none" strike="noStrike" baseline="0" dirty="0">
                <a:latin typeface="Palatino-Roman"/>
              </a:rPr>
              <a:t>emory</a:t>
            </a:r>
            <a:r>
              <a:rPr lang="en-US" sz="1800" b="0" i="0" u="none" strike="noStrike" baseline="0" dirty="0">
                <a:latin typeface="Palatino-Roman"/>
              </a:rPr>
              <a:t> -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not the most stable of human attributes,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V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isual acuity,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F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oveal and peripheral vision,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sensory storage,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processing,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differences.</a:t>
            </a:r>
          </a:p>
          <a:p>
            <a:pPr marL="0" indent="0" algn="just">
              <a:buNone/>
            </a:pPr>
            <a:endParaRPr lang="en-IN" dirty="0">
              <a:latin typeface="Palatino-Roman"/>
            </a:endParaRPr>
          </a:p>
          <a:p>
            <a:pPr marL="0" indent="0" algn="just">
              <a:buNone/>
            </a:pPr>
            <a:endParaRPr lang="en-IN" sz="1800" b="0" i="0" u="none" strike="noStrike" baseline="0" dirty="0">
              <a:latin typeface="Palatino-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PORTANT HUMAN&#10;CHARACTERISTICS IN DESIGN&#10; Memory&#10; Visual activity&#10; Peripheral vision&#10; Sensory storage&#10; Information processing&#10; Learning&#10; Skill&#10; Individual differences.&#10; Perception&#10; Proximity&#10; Similarity&#10; Matching patterns&#10; Succinctness&#10; Closure&#10; Unity&#10; Continuity&#10; Balance&#10; Expectancies&#10; Context&#10; Signals versus noise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62" y="193182"/>
            <a:ext cx="8460333" cy="634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57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33350" y="302359"/>
            <a:ext cx="1008490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Sensory storage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buffer where the automatic processing of information collected from our senses takes place. </a:t>
            </a:r>
          </a:p>
          <a:p>
            <a:pPr algn="l"/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unconscious process, large, attentive to the environment,</a:t>
            </a: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to detect changes, and constantly being replaced by newly gathered</a:t>
            </a: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stimuli. </a:t>
            </a:r>
          </a:p>
          <a:p>
            <a:pPr algn="l"/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sense, it acts like radar, constantly scanning the environment for things</a:t>
            </a: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important to pass on to higher memory.</a:t>
            </a: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you ever been at a party when, across the room, through</a:t>
            </a: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din of voices, someone mentions your name and you hear it? In spite of the noise,</a:t>
            </a:r>
            <a:r>
              <a:rPr lang="en-I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radar was functioning.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and excessive stimulation can fatigue the sensory storage mechanism,</a:t>
            </a: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it less attentive and unable to distinguish what is important (called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/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unnecessarily stressing it. Design the interface so that all aspects and elements serve a definite purpose. Eliminating interface noise will ensure that important things are less likely to be missed.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19" y="681037"/>
            <a:ext cx="10812161" cy="57006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Acuity</a:t>
            </a:r>
            <a:b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capacity of the eye to resolve details is called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acuity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ct val="0"/>
              </a:spcBef>
            </a:pP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capacity of the eye to resolve details is called visual acuity.</a:t>
            </a:r>
          </a:p>
          <a:p>
            <a:pPr algn="just">
              <a:spcBef>
                <a:spcPct val="0"/>
              </a:spcBef>
            </a:pP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If one assumes that the average viewing distance of a display screen is 19 inches </a:t>
            </a:r>
            <a:r>
              <a:rPr lang="en-US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475 mm), the size of the area on the screen of optimum visual acuity is 1.67 </a:t>
            </a:r>
            <a:r>
              <a:rPr lang="en-US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inches , (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41.8 mm) in </a:t>
            </a:r>
            <a:r>
              <a:rPr lang="en-US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diameter.</a:t>
            </a:r>
          </a:p>
          <a:p>
            <a:pPr algn="just">
              <a:spcBef>
                <a:spcPct val="0"/>
              </a:spcBef>
            </a:pPr>
            <a:r>
              <a:rPr lang="en-US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Assuming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“average” character sizes and character and </a:t>
            </a:r>
            <a:r>
              <a:rPr lang="en-US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line spacing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the number of characters on a screen falling within this visual acuity circle </a:t>
            </a:r>
            <a:r>
              <a:rPr lang="en-US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is 88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with 15 characters being contained on the widest line, and seven rows being consumed</a:t>
            </a:r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766" y="4001294"/>
            <a:ext cx="2729948" cy="21946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Foveal and Peripheral Vision</a:t>
            </a:r>
          </a:p>
          <a:p>
            <a:pPr marL="0" indent="0" algn="just">
              <a:buNone/>
            </a:pP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Foveal vision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focus directly on something;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vision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senses anything </a:t>
            </a:r>
            <a:r>
              <a:rPr lang="en-US" sz="20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surrounding the location we are looking at, but what is there cannot be </a:t>
            </a:r>
            <a:r>
              <a:rPr lang="en-US" sz="20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clearly resolved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the limitations in visual acuity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Vision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its cooperative nature, peripheral vision is thought to provide clues to where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eye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go next in the visual search of a screen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that our senses collect that is deemed important enough to do </a:t>
            </a:r>
            <a:r>
              <a:rPr lang="en-US" sz="20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something about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has to be processed in some meaningful way.</a:t>
            </a:r>
          </a:p>
          <a:p>
            <a:pPr marL="0" indent="0" algn="l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this higher level, there exists a lower level of information processing</a:t>
            </a:r>
            <a:r>
              <a:rPr lang="en-US" sz="20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limit of its capacity is unknown. This lower level processes familiar </a:t>
            </a:r>
            <a:r>
              <a:rPr lang="en-US" sz="20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rapidly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parallel with the higher level, and without conscious effort. “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0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look rather 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see, perceive rather than read”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 Consideration: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UMAN CONSIDERATIONS IN&#10;DESIGN&#10;The User's Knowledge and Experience:-&#10;The knowledge possessed by a person, and the experiences&#10;undergone, shape the design of the interface in many ways.&#10;The following kinds of knowledge and experiences should be&#10;identified.&#10;• Computer Literacy - Highly technical or experienced,&#10;moderate computer experience, or none&#10;• System Experience - High, moderate, or low knowledge of a&#10;particular system and its methods of interaction&#10;• Application Experience - High, moderate, or low knowledge&#10;of similar systems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89" y="1690688"/>
            <a:ext cx="9813701" cy="476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572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Consideration:</a:t>
            </a:r>
            <a:endParaRPr lang="en-IN" dirty="0"/>
          </a:p>
        </p:txBody>
      </p:sp>
      <p:pic>
        <p:nvPicPr>
          <p:cNvPr id="3074" name="Picture 2" descr="HUMAN CONSIDERATIONS IN&#10;DESIGN&#10;• Task Experience - Other Level of knowledge of job and job&#10;tasks&#10;• Systems Use - Frequent or infrequent use of other systems&#10;in doing job&#10;• Education - High school, college, or advanced degree&#10;• Reading Level - Less than 5th grade, 5th-12th, more than&#10;12th grade&#10;• Typing Skill - Expert (135 WPM), skilled (90 WPM), good&#10;(55 WPM), average (40 WPM), or &quot;hunt and peck&quot; (10&#10;WPM).&#10;• Native Language or Culture- English, another, or several.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797" y="1690688"/>
            <a:ext cx="9234152" cy="460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06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 Interaction Speeds: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HUMAN INTERACTION SPEEDS&#10;The speed at which people can perform using various&#10;communication methods has been studied by a number of&#10;researchers.&#10;READING&#10;• Prose text - 250-300 words per minute.&#10;• Proof reading text on paper - 200 words per minute.&#10;• Proofreading text on a monitor - 180 words per minute.&#10;LISTENING&#10;• Speaking to a computer: 150-160 words per minute.&#10;• After recognition corrections: 105 words per minute.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224" y="1477034"/>
            <a:ext cx="8834906" cy="462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527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</a:rPr>
              <a:t>Understanding </a:t>
            </a:r>
            <a:r>
              <a:rPr lang="en-US" sz="2800" b="1" dirty="0">
                <a:latin typeface="Times New Roman" panose="02020603050405020304" pitchFamily="18" charset="0"/>
              </a:rPr>
              <a:t>business </a:t>
            </a:r>
            <a:r>
              <a:rPr lang="en-US" sz="2800" b="1" dirty="0" smtClean="0">
                <a:latin typeface="Times New Roman" panose="02020603050405020304" pitchFamily="18" charset="0"/>
              </a:rPr>
              <a:t>Functions:</a:t>
            </a:r>
            <a:endParaRPr lang="en-IN" sz="2800" dirty="0"/>
          </a:p>
        </p:txBody>
      </p:sp>
      <p:pic>
        <p:nvPicPr>
          <p:cNvPr id="5122" name="Picture 2" descr="UNDERSTAND THE BUSINESS&#10;FUNCTION&#10;• Business definition and requirements analysis&#10;--Direct methods&#10;--Indirect methods&#10;--Requirements collection guidelines&#10;• Determining basic business functions&#10;--Developing conceptual modes&#10;--Understanding mental models&#10;--Users new mental model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251" y="1448058"/>
            <a:ext cx="7559898" cy="438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382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DERSTAND THE BUSINESS&#10;FUNCTION&#10;• Design standards or style guides&#10;--Value of standards and guidelines&#10;--Document design&#10;--Design support and implementation&#10;• System training and documentation&#10;-- Training&#10;--Documentation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253" y="684983"/>
            <a:ext cx="8693239" cy="504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050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IRECT METHODS&#10;• Individual Face-to-Face Interview&#10;• Telephone Interview or Survey&#10;• Traditional Focus Group&#10;• Facilitated Team Workshop&#10;• Observational Field Study&#10;• User-Interface Prototyping&#10;• Usability Laboratory Testing&#10;• Card Sorting for Web Sites&#10;• A technique to establish groupings of information for&#10;Web sites&#10;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495" y="1184856"/>
            <a:ext cx="8189935" cy="458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165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NDIRECT METHODS&#10;• MIS Intermediary&#10;• Paper Surveyor&#10;Questionnaire&#10;• Electronic Surveyor&#10;Questionnaire&#10;• Electronic Focus Group&#10;• Marketing and Sales&#10;• Support Line&#10;• E-Mail or Bulletin Board&#10;• User Group&#10;• Competitor Analyses&#10;• Trade Show&#10;• Other Media Analysis&#10;• System Testing&#10;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65" y="1184856"/>
            <a:ext cx="7056594" cy="454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015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ETERMINING BASIC BUSINESS&#10;FUNCTIONS&#10;A flowchart of major functions is developed. The process the&#10;developer will use is summarized as follows:&#10;Gain a complete understanding of the user's mental model based&#10;upon:&#10;• The user's needs and the user's profile.&#10;• A user task analysis.&#10;• Develop a conceptual model of the system based upon the user's&#10;mental model.&#10;This includes:&#10;• Defining objects.&#10;• Developing metaphors.&#10;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104" y="862885"/>
            <a:ext cx="8787936" cy="517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998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830</Words>
  <Application>Microsoft Office PowerPoint</Application>
  <PresentationFormat>Widescreen</PresentationFormat>
  <Paragraphs>101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Formata-Medium</vt:lpstr>
      <vt:lpstr>Formata-MediumItalic</vt:lpstr>
      <vt:lpstr>Palatino-Bold</vt:lpstr>
      <vt:lpstr>Palatino-Roman</vt:lpstr>
      <vt:lpstr>Times New Roman</vt:lpstr>
      <vt:lpstr>Office Theme</vt:lpstr>
      <vt:lpstr>PowerPoint Presentation</vt:lpstr>
      <vt:lpstr>  UNIT II Design process – Human interaction with computers, importance of human characteristics, human consideration, Human interaction speeds, understanding business Functions. </vt:lpstr>
      <vt:lpstr>Design Process:</vt:lpstr>
      <vt:lpstr>Human Interaction with Computers </vt:lpstr>
      <vt:lpstr>The Human Action Cycle</vt:lpstr>
      <vt:lpstr>Why People Have Trouble with Computers</vt:lpstr>
      <vt:lpstr>Human Characteristics</vt:lpstr>
      <vt:lpstr>Importance of  Human Characteristics in Design</vt:lpstr>
      <vt:lpstr>PowerPoint Presentation</vt:lpstr>
      <vt:lpstr>PowerPoint Presentation</vt:lpstr>
      <vt:lpstr>PowerPoint Presentation</vt:lpstr>
      <vt:lpstr>PowerPoint Presentation</vt:lpstr>
      <vt:lpstr>Visual Acuity The capacity of the eye to resolve details is called visual acuity.</vt:lpstr>
      <vt:lpstr>PowerPoint Presentation</vt:lpstr>
      <vt:lpstr>Information Processing</vt:lpstr>
      <vt:lpstr>Human Consideration:</vt:lpstr>
      <vt:lpstr>Human Consideration:</vt:lpstr>
      <vt:lpstr>Human Interaction Speeds:</vt:lpstr>
      <vt:lpstr>Understanding business Functions: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Srinivasa Reddy Konda</dc:creator>
  <cp:lastModifiedBy>HP</cp:lastModifiedBy>
  <cp:revision>404</cp:revision>
  <dcterms:created xsi:type="dcterms:W3CDTF">2020-08-08T03:55:00Z</dcterms:created>
  <dcterms:modified xsi:type="dcterms:W3CDTF">2024-02-20T05:01:26Z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291C16CCD9F24954947E10466104815E_12</vt:lpwstr>
  </property>
  <property fmtid="{D5CDD505-2E9C-101B-9397-08002B2CF9AE}" pid="3" name="KSOProductBuildVer">
    <vt:lpwstr>1033-12.2.0.13359</vt:lpwstr>
  </property>
</Properties>
</file>